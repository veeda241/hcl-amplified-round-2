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 (Title)</a:t>
            </a:r>
          </a:p>
          <a:p>
            <a:r>
              <a:t>================================</a:t>
            </a:r>
          </a:p>
          <a:p/>
          <a:p>
            <a:r>
              <a:t>Opening Statement:</a:t>
            </a:r>
          </a:p>
          <a:p>
            <a:r>
              <a:t>"Good morning/afternoon everyone. Today I'll be presenting our research on integrating psychological theories into AI-powered career guidance systems."</a:t>
            </a:r>
          </a:p>
          <a:p/>
          <a:p>
            <a:r>
              <a:t>Key Points to Mention:</a:t>
            </a:r>
          </a:p>
          <a:p>
            <a:r>
              <a:t>• Introduce yourself and your department</a:t>
            </a:r>
          </a:p>
          <a:p>
            <a:r>
              <a:t>• Mention this is an interdisciplinary psychology-computer science project</a:t>
            </a:r>
          </a:p>
          <a:p>
            <a:r>
              <a:t>• Briefly preview the 7 theories you'll discuss</a:t>
            </a:r>
          </a:p>
          <a:p>
            <a:r>
              <a:t>• Set expectations: 20-minute presentation + Q&amp;A</a:t>
            </a:r>
          </a:p>
          <a:p/>
          <a:p>
            <a:r>
              <a:t>Transition:</a:t>
            </a:r>
          </a:p>
          <a:p>
            <a:r>
              <a:t>"Let me start by explaining the problem we're trying to solve."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 (The Problem)</a:t>
            </a:r>
          </a:p>
          <a:p>
            <a:r>
              <a:t>=======================================</a:t>
            </a:r>
          </a:p>
          <a:p/>
          <a:p>
            <a:r>
              <a:t>Opening Statement:</a:t>
            </a:r>
          </a:p>
          <a:p>
            <a:r>
              <a:t>"Career indecision is a widespread problem affecting students worldwide."</a:t>
            </a:r>
          </a:p>
          <a:p/>
          <a:p>
            <a:r>
              <a:t>Key Statistics to Emphasize:</a:t>
            </a:r>
          </a:p>
          <a:p>
            <a:r>
              <a:t>• 80% of students experience significant career confusion (Gati et al., 1996)</a:t>
            </a:r>
          </a:p>
          <a:p>
            <a:r>
              <a:t>• Students waste months learning wrong skills</a:t>
            </a:r>
          </a:p>
          <a:p>
            <a:r>
              <a:t>• Traditional counseling is limited by scalability and availability</a:t>
            </a:r>
          </a:p>
          <a:p/>
          <a:p>
            <a:r>
              <a:t>Walk Through Each Challenge:</a:t>
            </a:r>
          </a:p>
          <a:p>
            <a:r>
              <a:t>1. "Too many career options → Overwhelm"</a:t>
            </a:r>
          </a:p>
          <a:p>
            <a:r>
              <a:t>   - Students face hundreds of career paths with no clear guidance</a:t>
            </a:r>
          </a:p>
          <a:p>
            <a:r>
              <a:t>   - Decision paralysis is real and documented in psychology literature</a:t>
            </a:r>
          </a:p>
          <a:p/>
          <a:p>
            <a:r>
              <a:t>2. "Lack of personalized guidance → Generic advice"</a:t>
            </a:r>
          </a:p>
          <a:p>
            <a:r>
              <a:t>   - One-size-fits-all career advice doesn't account for individual differences</a:t>
            </a:r>
          </a:p>
          <a:p>
            <a:r>
              <a:t>   - Each student has unique interests, skills, and learning pace</a:t>
            </a:r>
          </a:p>
          <a:p/>
          <a:p>
            <a:r>
              <a:t>3. "Rapidly changing industry demands → Outdated information"</a:t>
            </a:r>
          </a:p>
          <a:p>
            <a:r>
              <a:t>   - Career guidance from 5 years ago may be irrelevant today</a:t>
            </a:r>
          </a:p>
          <a:p>
            <a:r>
              <a:t>   - AI can provide real-time market data</a:t>
            </a:r>
          </a:p>
          <a:p/>
          <a:p>
            <a:r>
              <a:t>4. "No clear learning order → Directionless exploration"</a:t>
            </a:r>
          </a:p>
          <a:p>
            <a:r>
              <a:t>   - Students don't know what to learn first</a:t>
            </a:r>
          </a:p>
          <a:p>
            <a:r>
              <a:t>   - Results in inefficient learning and wasted time</a:t>
            </a:r>
          </a:p>
          <a:p/>
          <a:p>
            <a:r>
              <a:t>Transition:</a:t>
            </a:r>
          </a:p>
          <a:p>
            <a:r>
              <a:t>"This problem inspired us to build SkillRoute — an AI-powered solution."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 (Research Question)</a:t>
            </a:r>
          </a:p>
          <a:p>
            <a:r>
              <a:t>=============================================</a:t>
            </a:r>
          </a:p>
          <a:p/>
          <a:p>
            <a:r>
              <a:t>State the Question Clearly:</a:t>
            </a:r>
          </a:p>
          <a:p>
            <a:r>
              <a:t>"Our research asks: How can psychological theories of career decision-making, self-efficacy, and adaptive learning be operationalized in an AI-powered learning platform?"</a:t>
            </a:r>
          </a:p>
          <a:p/>
          <a:p>
            <a:r>
              <a:t>Explain the Three Contributions:</a:t>
            </a:r>
          </a:p>
          <a:p/>
          <a:p>
            <a:r>
              <a:t>1. Theoretical Operationalization:</a:t>
            </a:r>
          </a:p>
          <a:p>
            <a:r>
              <a:t>   - "We demonstrate how abstract psychological constructs — like self-efficacy, zone of proximal development, and flow — can be translated into concrete computational mechanisms."</a:t>
            </a:r>
          </a:p>
          <a:p>
            <a:r>
              <a:t>   - "This is the core contribution: bridging theory and practice."</a:t>
            </a:r>
          </a:p>
          <a:p/>
          <a:p>
            <a:r>
              <a:t>2. System Architecture:</a:t>
            </a:r>
          </a:p>
          <a:p>
            <a:r>
              <a:t>   - "We designed a full-stack system that embeds psychological principles at every layer — from data collection to AI decision-making to feedback delivery."</a:t>
            </a:r>
          </a:p>
          <a:p/>
          <a:p>
            <a:r>
              <a:t>3. Practical Impact:</a:t>
            </a:r>
          </a:p>
          <a:p>
            <a:r>
              <a:t>   - "We show that psychologically grounded AI systems can produce more meaningful career guidance than purely data-driven approaches."</a:t>
            </a:r>
          </a:p>
          <a:p/>
          <a:p>
            <a:r>
              <a:t>Transition:</a:t>
            </a:r>
          </a:p>
          <a:p>
            <a:r>
              <a:t>"Let me now explain the solution we built."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 (The Solution)</a:t>
            </a:r>
          </a:p>
          <a:p>
            <a:r>
              <a:t>========================================</a:t>
            </a:r>
          </a:p>
          <a:p/>
          <a:p>
            <a:r>
              <a:t>Introduce SkillRoute:</a:t>
            </a:r>
          </a:p>
          <a:p>
            <a:r>
              <a:t>"SkillRoute is an AI-powered career decision-making and personalized learning platform."</a:t>
            </a:r>
          </a:p>
          <a:p/>
          <a:p>
            <a:r>
              <a:t>Walk Through Each Feature:</a:t>
            </a:r>
          </a:p>
          <a:p/>
          <a:p>
            <a:r>
              <a:t>1. Decides (not just recommends):</a:t>
            </a:r>
          </a:p>
          <a:p>
            <a:r>
              <a:t>   - "Unlike traditional platforms that suggest courses, SkillRoute DECIDES the best career path for each student."</a:t>
            </a:r>
          </a:p>
          <a:p>
            <a:r>
              <a:t>   - "This is a key differentiator — it's an AI decision-making agent, not just a chatbot."</a:t>
            </a:r>
          </a:p>
          <a:p/>
          <a:p>
            <a:r>
              <a:t>2. Profiles:</a:t>
            </a:r>
          </a:p>
          <a:p>
            <a:r>
              <a:t>   - "We collect psychological data through a 5-step onboarding process."</a:t>
            </a:r>
          </a:p>
          <a:p>
            <a:r>
              <a:t>   - "This includes interests, skills, goals, education, and learning preferences."</a:t>
            </a:r>
          </a:p>
          <a:p/>
          <a:p>
            <a:r>
              <a:t>3. Plans:</a:t>
            </a:r>
          </a:p>
          <a:p>
            <a:r>
              <a:t>   - "The system generates personalized, time-bound learning roadmaps."</a:t>
            </a:r>
          </a:p>
          <a:p>
            <a:r>
              <a:t>   - "Each roadmap has 4 phases with specific milestones and resources."</a:t>
            </a:r>
          </a:p>
          <a:p/>
          <a:p>
            <a:r>
              <a:t>4. Tracks:</a:t>
            </a:r>
          </a:p>
          <a:p>
            <a:r>
              <a:t>   - "We monitor progress and adapt the roadmap based on performance."</a:t>
            </a:r>
          </a:p>
          <a:p>
            <a:r>
              <a:t>   - "This implements Vygotsky's Zone of Proximal Development."</a:t>
            </a:r>
          </a:p>
          <a:p/>
          <a:p>
            <a:r>
              <a:t>5. Assesses:</a:t>
            </a:r>
          </a:p>
          <a:p>
            <a:r>
              <a:t>   - "The skill quiz tests actual abilities vs. self-reported skills."</a:t>
            </a:r>
          </a:p>
          <a:p>
            <a:r>
              <a:t>   - "This addresses the Dunning-Kruger Effect."</a:t>
            </a:r>
          </a:p>
          <a:p/>
          <a:p>
            <a:r>
              <a:t>Tech Stack Mention:</a:t>
            </a:r>
          </a:p>
          <a:p>
            <a:r>
              <a:t>"Our tech stack includes React for the frontend, FastAPI for the backend, Groq LLM for AI decisions, and Firebase for authentication and data storage."</a:t>
            </a:r>
          </a:p>
          <a:p/>
          <a:p>
            <a:r>
              <a:t>Transition:</a:t>
            </a:r>
          </a:p>
          <a:p>
            <a:r>
              <a:t>"Now let me explain the psychological theories underlying this system."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 (Theories Overview)</a:t>
            </a:r>
          </a:p>
          <a:p>
            <a:r>
              <a:t>============================================</a:t>
            </a:r>
          </a:p>
          <a:p/>
          <a:p>
            <a:r>
              <a:t>Overview Statement:</a:t>
            </a:r>
          </a:p>
          <a:p>
            <a:r>
              <a:t>"Our system integrates 7 major psychological theories from career development, educational psychology, and motivation science."</a:t>
            </a:r>
          </a:p>
          <a:p/>
          <a:p>
            <a:r>
              <a:t>Walk Through Each Theory Briefly:</a:t>
            </a:r>
          </a:p>
          <a:p/>
          <a:p>
            <a:r>
              <a:t>1. Holland's RIASEC (INPUT layer):</a:t>
            </a:r>
          </a:p>
          <a:p>
            <a:r>
              <a:t>   - "Holland's theory proposes that career satisfaction depends on personality-environment fit."</a:t>
            </a:r>
          </a:p>
          <a:p>
            <a:r>
              <a:t>   - "We implement this through our 5-step profiling process."</a:t>
            </a:r>
          </a:p>
          <a:p/>
          <a:p>
            <a:r>
              <a:t>2. Bandura's Self-Efficacy (FEEDBACK layer):</a:t>
            </a:r>
          </a:p>
          <a:p>
            <a:r>
              <a:t>   - "Bandura showed that mastery experiences build self-efficacy."</a:t>
            </a:r>
          </a:p>
          <a:p>
            <a:r>
              <a:t>   - "Our skill quiz and outcomes dashboard provide this feedback."</a:t>
            </a:r>
          </a:p>
          <a:p/>
          <a:p>
            <a:r>
              <a:t>3. Vygotsky's ZPD (ADAPTIVE layer):</a:t>
            </a:r>
          </a:p>
          <a:p>
            <a:r>
              <a:t>   - "Vygotsky's Zone of Proximal Development says learning is most effective when targeting the zone between what you can do alone and with guidance."</a:t>
            </a:r>
          </a:p>
          <a:p>
            <a:r>
              <a:t>   - "Our adaptive roadmap implements this."</a:t>
            </a:r>
          </a:p>
          <a:p/>
          <a:p>
            <a:r>
              <a:t>4. Deci &amp; Ryan's SDT (INPUT layer):</a:t>
            </a:r>
          </a:p>
          <a:p>
            <a:r>
              <a:t>   - "Self-Determination Theory identifies three basic needs: autonomy, competence, relatedness."</a:t>
            </a:r>
          </a:p>
          <a:p>
            <a:r>
              <a:t>   - "Our system addresses all three."</a:t>
            </a:r>
          </a:p>
          <a:p/>
          <a:p>
            <a:r>
              <a:t>5. Dunning-Kruger (ASSESSMENT layer):</a:t>
            </a:r>
          </a:p>
          <a:p>
            <a:r>
              <a:t>   - "The Dunning-Kruger Effect shows that unskilled people overestimate their ability."</a:t>
            </a:r>
          </a:p>
          <a:p>
            <a:r>
              <a:t>   - "Our quiz bridges the gap between self-report and actual skill."</a:t>
            </a:r>
          </a:p>
          <a:p/>
          <a:p>
            <a:r>
              <a:t>6. Locke &amp; Latham's Goal Setting (STRUCTURE layer):</a:t>
            </a:r>
          </a:p>
          <a:p>
            <a:r>
              <a:t>   - "Goal Setting Theory shows that specific, challenging goals with feedback improve performance."</a:t>
            </a:r>
          </a:p>
          <a:p>
            <a:r>
              <a:t>   - "Our milestone-based roadmap implements this."</a:t>
            </a:r>
          </a:p>
          <a:p/>
          <a:p>
            <a:r>
              <a:t>7. Csikszentmihalyi's Flow (ADAPTIVE layer):</a:t>
            </a:r>
          </a:p>
          <a:p>
            <a:r>
              <a:t>   - "Flow occurs when challenge matches skill level."</a:t>
            </a:r>
          </a:p>
          <a:p>
            <a:r>
              <a:t>   - "Our adaptive system aims to keep users in this flow zone."</a:t>
            </a:r>
          </a:p>
          <a:p/>
          <a:p>
            <a:r>
              <a:t>Transition:</a:t>
            </a:r>
          </a:p>
          <a:p>
            <a:r>
              <a:t>"Let me now explain each theory in detail, starting with Holland's RIASEC Model."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13 (System Architecture)</a:t>
            </a:r>
          </a:p>
          <a:p>
            <a:r>
              <a:t>==============================================</a:t>
            </a:r>
          </a:p>
          <a:p/>
          <a:p>
            <a:r>
              <a:t>Overview:</a:t>
            </a:r>
          </a:p>
          <a:p>
            <a:r>
              <a:t>"Our system has a three-layer architecture: Frontend, Backend, and Database."</a:t>
            </a:r>
          </a:p>
          <a:p/>
          <a:p>
            <a:r>
              <a:t>Frontend Layer:</a:t>
            </a:r>
          </a:p>
          <a:p>
            <a:r>
              <a:t>- "React with Tailwind CSS for a modern, responsive interface"</a:t>
            </a:r>
          </a:p>
          <a:p>
            <a:r>
              <a:t>- "Key components: Dashboard, Skill Quiz, Progress Tracker, Learning Outcomes, Job Listings"</a:t>
            </a:r>
          </a:p>
          <a:p>
            <a:r>
              <a:t>- "Dark mode design for professional appearance"</a:t>
            </a:r>
          </a:p>
          <a:p/>
          <a:p>
            <a:r>
              <a:t>Backend Layer:</a:t>
            </a:r>
          </a:p>
          <a:p>
            <a:r>
              <a:t>- "FastAPI with Python for high-performance async API"</a:t>
            </a:r>
          </a:p>
          <a:p>
            <a:r>
              <a:t>- "Four AI agents powered by Groq LLM:"</a:t>
            </a:r>
          </a:p>
          <a:p>
            <a:r>
              <a:t>  1. "Career Decision Agent — analyzes multi-factor profile"</a:t>
            </a:r>
          </a:p>
          <a:p>
            <a:r>
              <a:t>  2. "Roadmap Generation Agent — creates 4-phase learning path"</a:t>
            </a:r>
          </a:p>
          <a:p>
            <a:r>
              <a:t>  3. "Adaptive Roadmap Agent — modifies path based on progress"</a:t>
            </a:r>
          </a:p>
          <a:p>
            <a:r>
              <a:t>  4. "Quiz Agent — generates and evaluates skill assessments"</a:t>
            </a:r>
          </a:p>
          <a:p/>
          <a:p>
            <a:r>
              <a:t>Database Layer:</a:t>
            </a:r>
          </a:p>
          <a:p>
            <a:r>
              <a:t>- "Firebase for authentication and data storage"</a:t>
            </a:r>
          </a:p>
          <a:p>
            <a:r>
              <a:t>- "Firestore for flexible NoSQL data model"</a:t>
            </a:r>
          </a:p>
          <a:p>
            <a:r>
              <a:t>- "Stores: User profiles, roadmaps, progress data, quiz results, career decisions"</a:t>
            </a:r>
          </a:p>
          <a:p/>
          <a:p>
            <a:r>
              <a:t>Transition:</a:t>
            </a:r>
          </a:p>
          <a:p>
            <a:r>
              <a:t>"Let me explain the key implementation details."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14 (Implementation Highlights)</a:t>
            </a:r>
          </a:p>
          <a:p>
            <a:r>
              <a:t>====================================================</a:t>
            </a:r>
          </a:p>
          <a:p/>
          <a:p>
            <a:r>
              <a:t>Section 1: Five-Step Psychological Profiling</a:t>
            </a:r>
          </a:p>
          <a:p>
            <a:r>
              <a:t>- "Our onboarding collects psychological data in 5 steps"</a:t>
            </a:r>
          </a:p>
          <a:p>
            <a:r>
              <a:t>- "Step 1: Career Clarity Assessment — 3 questions that produce a 0-100 score"</a:t>
            </a:r>
          </a:p>
          <a:p>
            <a:r>
              <a:t>  - "This implements Gati's taxonomy of career decision difficulties"</a:t>
            </a:r>
          </a:p>
          <a:p>
            <a:r>
              <a:t>- "Step 2: Personal Information — name, education level"</a:t>
            </a:r>
          </a:p>
          <a:p>
            <a:r>
              <a:t>- "Step 3: Skills &amp; Interests — open-ended format for ecological validity"</a:t>
            </a:r>
          </a:p>
          <a:p>
            <a:r>
              <a:t>- "Step 4: Goals &amp; Experience — specific career objectives"</a:t>
            </a:r>
          </a:p>
          <a:p>
            <a:r>
              <a:t>- "Step 5: Learning Preferences — time availability and learning pace"</a:t>
            </a:r>
          </a:p>
          <a:p>
            <a:r>
              <a:t>- "This multi-factor profile enables the AI to make nuanced career decisions"</a:t>
            </a:r>
          </a:p>
          <a:p/>
          <a:p>
            <a:r>
              <a:t>Section 2: AI Career Decision Agent</a:t>
            </a:r>
          </a:p>
          <a:p>
            <a:r>
              <a:t>- "The career decision agent uses Groq LLM for ultra-fast inference"</a:t>
            </a:r>
          </a:p>
          <a:p>
            <a:r>
              <a:t>- "It processes the complete student profile and generates:"</a:t>
            </a:r>
          </a:p>
          <a:p>
            <a:r>
              <a:t>  - "Primary career recommendation with confidence score"</a:t>
            </a:r>
          </a:p>
          <a:p>
            <a:r>
              <a:t>  - "Skill match and market readiness percentages"</a:t>
            </a:r>
          </a:p>
          <a:p>
            <a:r>
              <a:t>  - "Key strengths and identified skill gaps"</a:t>
            </a:r>
          </a:p>
          <a:p>
            <a:r>
              <a:t>  - "Decision trace showing the reasoning process"</a:t>
            </a:r>
          </a:p>
          <a:p>
            <a:r>
              <a:t>  - "Alternative career paths for comparison"</a:t>
            </a:r>
          </a:p>
          <a:p>
            <a:r>
              <a:t>- "This is not just a chatbot — it's an AI decision-making agent"</a:t>
            </a:r>
          </a:p>
          <a:p/>
          <a:p>
            <a:r>
              <a:t>Section 3: Adaptive Roadmap Mechanism</a:t>
            </a:r>
          </a:p>
          <a:p>
            <a:r>
              <a:t>- "The system monitors three key indicators:"</a:t>
            </a:r>
          </a:p>
          <a:p>
            <a:r>
              <a:t>  1. "Phase completion rate"</a:t>
            </a:r>
          </a:p>
          <a:p>
            <a:r>
              <a:t>  2. "Activity recency (days since last activity)"</a:t>
            </a:r>
          </a:p>
          <a:p>
            <a:r>
              <a:t>  3. "Streak consistency"</a:t>
            </a:r>
          </a:p>
          <a:p>
            <a:r>
              <a:t>- "When inactivity exceeds 3 days and phases remain incomplete, the system suggests adaptation"</a:t>
            </a:r>
          </a:p>
          <a:p>
            <a:r>
              <a:t>- "The adaptation modifies future phases based on performance patterns"</a:t>
            </a:r>
          </a:p>
          <a:p>
            <a:r>
              <a:t>- "This implements Vygotsky's ZPD — adjusting difficulty to match learner capability"</a:t>
            </a:r>
          </a:p>
          <a:p/>
          <a:p>
            <a:r>
              <a:t>Transition:</a:t>
            </a:r>
          </a:p>
          <a:p>
            <a:r>
              <a:t>"Now let me discuss the results and implications."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15 (Results &amp; Discussion)</a:t>
            </a:r>
          </a:p>
          <a:p>
            <a:r>
              <a:t>===============================================</a:t>
            </a:r>
          </a:p>
          <a:p/>
          <a:p>
            <a:r>
              <a:t>Key Findings:</a:t>
            </a:r>
          </a:p>
          <a:p/>
          <a:p>
            <a:r>
              <a:t>1. "Psychology theories can be computationally operationalized"</a:t>
            </a:r>
          </a:p>
          <a:p>
            <a:r>
              <a:t>   - "This is our primary contribution — we've shown the theory-practice bridge is achievable"</a:t>
            </a:r>
          </a:p>
          <a:p>
            <a:r>
              <a:t>   - "Each of the 7 theories maps to a specific computational mechanism"</a:t>
            </a:r>
          </a:p>
          <a:p/>
          <a:p>
            <a:r>
              <a:t>2. "AI agent produces personalized career decisions"</a:t>
            </a:r>
          </a:p>
          <a:p>
            <a:r>
              <a:t>   - "The Groq LLM processes multi-factor profiles to generate individualized recommendations"</a:t>
            </a:r>
          </a:p>
          <a:p>
            <a:r>
              <a:t>   - "This is scalable — unlike human counseling, it can serve unlimited users"</a:t>
            </a:r>
          </a:p>
          <a:p/>
          <a:p>
            <a:r>
              <a:t>3. "Adaptive system adjusts to individual learning pace"</a:t>
            </a:r>
          </a:p>
          <a:p>
            <a:r>
              <a:t>   - "Vygotsky's ZPD and Csikszentmihalyi's Flow are effectively implemented"</a:t>
            </a:r>
          </a:p>
          <a:p>
            <a:r>
              <a:t>   - "The system dynamically adjusts difficulty based on progress"</a:t>
            </a:r>
          </a:p>
          <a:p/>
          <a:p>
            <a:r>
              <a:t>4. "Skill quiz reveals self-assessment bias"</a:t>
            </a:r>
          </a:p>
          <a:p>
            <a:r>
              <a:t>   - "The Dunning-Kruger correction mechanism works"</a:t>
            </a:r>
          </a:p>
          <a:p>
            <a:r>
              <a:t>   - "Users receive objective feedback on their actual skill level"</a:t>
            </a:r>
          </a:p>
          <a:p/>
          <a:p>
            <a:r>
              <a:t>5. "Multi-factor profiling enhances decision quality"</a:t>
            </a:r>
          </a:p>
          <a:p>
            <a:r>
              <a:t>   - "Holland's model scales through AI"</a:t>
            </a:r>
          </a:p>
          <a:p>
            <a:r>
              <a:t>   - "Multiple factors create a more nuanced career recommendation"</a:t>
            </a:r>
          </a:p>
          <a:p/>
          <a:p>
            <a:r>
              <a:t>Advantages Over Traditional Counseling:</a:t>
            </a:r>
          </a:p>
          <a:p>
            <a:r>
              <a:t>- Scalable (unlimited users)</a:t>
            </a:r>
          </a:p>
          <a:p>
            <a:r>
              <a:t>- Consistent (algorithmic decisions)</a:t>
            </a:r>
          </a:p>
          <a:p>
            <a:r>
              <a:t>- Accessible (24/7 availability)</a:t>
            </a:r>
          </a:p>
          <a:p>
            <a:r>
              <a:t>- Data-driven (real-time market integration)</a:t>
            </a:r>
          </a:p>
          <a:p/>
          <a:p>
            <a:r>
              <a:t>Transition:</a:t>
            </a:r>
          </a:p>
          <a:p>
            <a:r>
              <a:t>"Let me address the limitations and ethical considerations."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16 (Ethics &amp; Limitations)</a:t>
            </a:r>
          </a:p>
          <a:p>
            <a:r>
              <a:t>================================================</a:t>
            </a:r>
          </a:p>
          <a:p/>
          <a:p>
            <a:r>
              <a:t>Limitations (Be Honest):</a:t>
            </a:r>
          </a:p>
          <a:p/>
          <a:p>
            <a:r>
              <a:t>1. "Quiz validity limited to 5 questions"</a:t>
            </a:r>
          </a:p>
          <a:p>
            <a:r>
              <a:t>   - "5 questions may not provide sufficient psychometric validity"</a:t>
            </a:r>
          </a:p>
          <a:p>
            <a:r>
              <a:t>   - "Future versions should incorporate validated assessment instruments"</a:t>
            </a:r>
          </a:p>
          <a:p/>
          <a:p>
            <a:r>
              <a:t>2. "Self-report bias in interests/goals"</a:t>
            </a:r>
          </a:p>
          <a:p>
            <a:r>
              <a:t>   - "Despite the Dunning-Kruger correction, we still rely on self-reported data"</a:t>
            </a:r>
          </a:p>
          <a:p>
            <a:r>
              <a:t>   - "Social desirability bias may affect responses"</a:t>
            </a:r>
          </a:p>
          <a:p/>
          <a:p>
            <a:r>
              <a:t>3. "No longitudinal outcome tracking"</a:t>
            </a:r>
          </a:p>
          <a:p>
            <a:r>
              <a:t>   - "We don't track career outcomes months or years after guidance"</a:t>
            </a:r>
          </a:p>
          <a:p>
            <a:r>
              <a:t>   - "This limits our ability to evaluate long-term effectiveness"</a:t>
            </a:r>
          </a:p>
          <a:p/>
          <a:p>
            <a:r>
              <a:t>4. "Technology-sector focus only"</a:t>
            </a:r>
          </a:p>
          <a:p>
            <a:r>
              <a:t>   - "Currently designed for technology careers"</a:t>
            </a:r>
          </a:p>
          <a:p>
            <a:r>
              <a:t>   - "Generalization to other sectors needs testing"</a:t>
            </a:r>
          </a:p>
          <a:p/>
          <a:p>
            <a:r>
              <a:t>5. "AI explainability remains partial"</a:t>
            </a:r>
          </a:p>
          <a:p>
            <a:r>
              <a:t>   - "While we include a decision trace, the reasoning process is not fully transparent"</a:t>
            </a:r>
          </a:p>
          <a:p>
            <a:r>
              <a:t>   - "This is a known challenge with large language models"</a:t>
            </a:r>
          </a:p>
          <a:p/>
          <a:p>
            <a:r>
              <a:t>Ethical Concerns &amp; Mitigations:</a:t>
            </a:r>
          </a:p>
          <a:p/>
          <a:p>
            <a:r>
              <a:t>1. Algorithmic Bias → Fairness audits</a:t>
            </a:r>
          </a:p>
          <a:p>
            <a:r>
              <a:t>   - "We acknowledge the risk of bias in AI recommendations"</a:t>
            </a:r>
          </a:p>
          <a:p>
            <a:r>
              <a:t>   - "Mitigation: Regular fairness audits and diverse training data"</a:t>
            </a:r>
          </a:p>
          <a:p/>
          <a:p>
            <a:r>
              <a:t>2. Over-Reliance → Encourage reflection</a:t>
            </a:r>
          </a:p>
          <a:p>
            <a:r>
              <a:t>   - "Students may defer too heavily to AI recommendations"</a:t>
            </a:r>
          </a:p>
          <a:p>
            <a:r>
              <a:t>   - "Mitigation: Present alternatives and encourage critical thinking"</a:t>
            </a:r>
          </a:p>
          <a:p/>
          <a:p>
            <a:r>
              <a:t>3. Data Privacy → Encryption, minimal collection</a:t>
            </a:r>
          </a:p>
          <a:p>
            <a:r>
              <a:t>   - "We collect sensitive psychological data"</a:t>
            </a:r>
          </a:p>
          <a:p>
            <a:r>
              <a:t>   - "Mitigation: Firebase encryption and minimal data collection"</a:t>
            </a:r>
          </a:p>
          <a:p/>
          <a:p>
            <a:r>
              <a:t>4. Transparency → Decision trace feature</a:t>
            </a:r>
          </a:p>
          <a:p>
            <a:r>
              <a:t>   - "AI decisions may be opaque"</a:t>
            </a:r>
          </a:p>
          <a:p>
            <a:r>
              <a:t>   - "Mitigation: Decision trace shows reasoning steps"</a:t>
            </a:r>
          </a:p>
          <a:p/>
          <a:p>
            <a:r>
              <a:t>Transition:</a:t>
            </a:r>
          </a:p>
          <a:p>
            <a:r>
              <a:t>"Let me discuss future research directions."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17 (Future Work)</a:t>
            </a:r>
          </a:p>
          <a:p>
            <a:r>
              <a:t>========================================</a:t>
            </a:r>
          </a:p>
          <a:p/>
          <a:p>
            <a:r>
              <a:t>Present Each Direction:</a:t>
            </a:r>
          </a:p>
          <a:p/>
          <a:p>
            <a:r>
              <a:t>1. Personality Assessment Integration:</a:t>
            </a:r>
          </a:p>
          <a:p>
            <a:r>
              <a:t>   - "Adding validated instruments like MBTI, Big Five, or RIASEC would enhance psychological depth"</a:t>
            </a:r>
          </a:p>
          <a:p>
            <a:r>
              <a:t>   - "This would provide more structured personality data for the AI agent"</a:t>
            </a:r>
          </a:p>
          <a:p/>
          <a:p>
            <a:r>
              <a:t>2. Longitudinal Outcome Tracking:</a:t>
            </a:r>
          </a:p>
          <a:p>
            <a:r>
              <a:t>   - "Tracking career outcomes months or years after guidance would enable evaluation of AI decision quality"</a:t>
            </a:r>
          </a:p>
          <a:p>
            <a:r>
              <a:t>   - "This is essential for establishing the system's effectiveness"</a:t>
            </a:r>
          </a:p>
          <a:p/>
          <a:p>
            <a:r>
              <a:t>3. A/B Testing Against Human Counselors:</a:t>
            </a:r>
          </a:p>
          <a:p>
            <a:r>
              <a:t>   - "Controlled experiments comparing SkillRoute's outcomes with traditional career counseling"</a:t>
            </a:r>
          </a:p>
          <a:p>
            <a:r>
              <a:t>   - "This would provide evidence of comparative effectiveness"</a:t>
            </a:r>
          </a:p>
          <a:p/>
          <a:p>
            <a:r>
              <a:t>4. Multi-Domain Generalization:</a:t>
            </a:r>
          </a:p>
          <a:p>
            <a:r>
              <a:t>   - "Extending beyond technology careers to healthcare, education, business"</a:t>
            </a:r>
          </a:p>
          <a:p>
            <a:r>
              <a:t>   - "This would broaden the system's impact"</a:t>
            </a:r>
          </a:p>
          <a:p/>
          <a:p>
            <a:r>
              <a:t>5. Gamification &amp; Social Features:</a:t>
            </a:r>
          </a:p>
          <a:p>
            <a:r>
              <a:t>   - "Adding badges, leaderboards, and peer comparison"</a:t>
            </a:r>
          </a:p>
          <a:p>
            <a:r>
              <a:t>   - "This could enhance motivation through relatedness and competition"</a:t>
            </a:r>
          </a:p>
          <a:p/>
          <a:p>
            <a:r>
              <a:t>Transition:</a:t>
            </a:r>
          </a:p>
          <a:p>
            <a:r>
              <a:t>"Let me conclude with the key takeaways."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18 (Conclusion)</a:t>
            </a:r>
          </a:p>
          <a:p>
            <a:r>
              <a:t>=======================================</a:t>
            </a:r>
          </a:p>
          <a:p/>
          <a:p>
            <a:r>
              <a:t>Key Takeaways:</a:t>
            </a:r>
          </a:p>
          <a:p/>
          <a:p>
            <a:r>
              <a:t>1. "7 theories → 7 mechanisms"</a:t>
            </a:r>
          </a:p>
          <a:p>
            <a:r>
              <a:t>   - "Each of the 7 psychology theories we discussed maps to a specific computational implementation"</a:t>
            </a:r>
          </a:p>
          <a:p>
            <a:r>
              <a:t>   - "This is the core contribution of our research"</a:t>
            </a:r>
          </a:p>
          <a:p/>
          <a:p>
            <a:r>
              <a:t>2. "AI as psychological agent"</a:t>
            </a:r>
          </a:p>
          <a:p>
            <a:r>
              <a:t>   - "SkillRoute's AI is not just a data processor"</a:t>
            </a:r>
          </a:p>
          <a:p>
            <a:r>
              <a:t>   - "It performs functions traditionally attributed to human counselors: assessment, diagnosis, treatment planning, monitoring"</a:t>
            </a:r>
          </a:p>
          <a:p/>
          <a:p>
            <a:r>
              <a:t>3. "Scalable career guidance"</a:t>
            </a:r>
          </a:p>
          <a:p>
            <a:r>
              <a:t>   - "The system extends human counselor reach through AI-powered personalization"</a:t>
            </a:r>
          </a:p>
          <a:p>
            <a:r>
              <a:t>   - "It can serve unlimited users simultaneously without quality degradation"</a:t>
            </a:r>
          </a:p>
          <a:p/>
          <a:p>
            <a:r>
              <a:t>Closing Quote:</a:t>
            </a:r>
          </a:p>
          <a:p>
            <a:r>
              <a:t>"The ultimate promise of psychologically grounded AI career guidance is not to replace human counselors but to extend their reach — providing evidence-based, personalized, and scalable career development support to the millions of students worldwide who currently lack access to quality career guidance."</a:t>
            </a:r>
          </a:p>
          <a:p/>
          <a:p>
            <a:r>
              <a:t>Transition:</a:t>
            </a:r>
          </a:p>
          <a:p>
            <a:r>
              <a:t>"Thank you. I'm happy to take any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19 (References)</a:t>
            </a:r>
          </a:p>
          <a:p>
            <a:r>
              <a:t>======================================</a:t>
            </a:r>
          </a:p>
          <a:p/>
          <a:p>
            <a:r>
              <a:t>Briefly Mention Key Citations:</a:t>
            </a:r>
          </a:p>
          <a:p>
            <a:r>
              <a:t>- "Holland (1997) — Career Choice Theory"</a:t>
            </a:r>
          </a:p>
          <a:p>
            <a:r>
              <a:t>- "Bandura (1977, 1997) — Self-Efficacy Theory"</a:t>
            </a:r>
          </a:p>
          <a:p>
            <a:r>
              <a:t>- "Vygotsky (1978) — Zone of Proximal Development"</a:t>
            </a:r>
          </a:p>
          <a:p>
            <a:r>
              <a:t>- "Deci &amp; Ryan (1985, 2000) — Self-Determination Theory"</a:t>
            </a:r>
          </a:p>
          <a:p>
            <a:r>
              <a:t>- "Kruger &amp; Dunning (1999) — Dunning-Kruger Effect"</a:t>
            </a:r>
          </a:p>
          <a:p>
            <a:r>
              <a:t>- "Locke &amp; Latham (1990, 2002) — Goal Setting Theory"</a:t>
            </a:r>
          </a:p>
          <a:p>
            <a:r>
              <a:t>- "Csikszentmihalyi (1990) — Flow Theory"</a:t>
            </a:r>
          </a:p>
          <a:p/>
          <a:p>
            <a:r>
              <a:t>Don't Read All — Just Highlight the Main Ones.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20 (Q&amp;A)</a:t>
            </a:r>
          </a:p>
          <a:p>
            <a:r>
              <a:t>================================</a:t>
            </a:r>
          </a:p>
          <a:p/>
          <a:p>
            <a:r>
              <a:t>Closing Statement:</a:t>
            </a:r>
          </a:p>
          <a:p>
            <a:r>
              <a:t>"Thank you for your attention. I'm happy to take any questions."</a:t>
            </a:r>
          </a:p>
          <a:p/>
          <a:p>
            <a:r>
              <a:t>Prepared for Common Questions:</a:t>
            </a:r>
          </a:p>
          <a:p/>
          <a:p>
            <a:r>
              <a:t>Q: "How is this different from Coursera/Udemy?"</a:t>
            </a:r>
          </a:p>
          <a:p>
            <a:r>
              <a:t>A: "They offer courses. We decide WHICH course and WHEN to take it, tailored to YOUR profile."</a:t>
            </a:r>
          </a:p>
          <a:p/>
          <a:p>
            <a:r>
              <a:t>Q: "What if the AI suggests a wrong career?"</a:t>
            </a:r>
          </a:p>
          <a:p>
            <a:r>
              <a:t>A: "The user can adjust preferences anytime, and the AI re-evaluates. It's adaptive, not one-time."</a:t>
            </a:r>
          </a:p>
          <a:p/>
          <a:p>
            <a:r>
              <a:t>Q: "Can this scale?"</a:t>
            </a:r>
          </a:p>
          <a:p>
            <a:r>
              <a:t>A: "Firebase + Vercel + Groq handle thousands of concurrent users on free tier."</a:t>
            </a:r>
          </a:p>
          <a:p/>
          <a:p>
            <a:r>
              <a:t>Q: "How do you make money?"</a:t>
            </a:r>
          </a:p>
          <a:p>
            <a:r>
              <a:t>A: "Freemium model — premium features like resume builder, mock interviews, mentor matching."</a:t>
            </a:r>
          </a:p>
          <a:p/>
          <a:p>
            <a:r>
              <a:t>Q: "What about ethical concerns with AI making career decisions?"</a:t>
            </a:r>
          </a:p>
          <a:p>
            <a:r>
              <a:t>A: "We present alternatives and encourage reflection. The AI suggests — the user decides."</a:t>
            </a:r>
          </a:p>
          <a:p/>
          <a:p>
            <a:r>
              <a:t>Q: "How do you validate the AI's career recommendations?"</a:t>
            </a:r>
          </a:p>
          <a:p>
            <a:r>
              <a:t>A: "This is a limitation we acknowledge. Future work includes longitudinal tracking and A/B testing against human counselors."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AI-Powered Career Decision-Making</a:t>
            </a:r>
          </a:p>
          <a:p>
            <a:pPr algn="ctr">
              <a:spcBef>
                <a:spcPts val="1200"/>
              </a:spcBef>
              <a:defRPr sz="2800" b="0">
                <a:solidFill>
                  <a:srgbClr val="38BDF8"/>
                </a:solidFill>
                <a:latin typeface="Calibri"/>
              </a:defRPr>
            </a:pPr>
            <a:r>
              <a:t>Integrating Psychological Theories into</a:t>
            </a:r>
            <a:br/>
            <a:r>
              <a:t>Personalized Learning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[Your Name]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Department of Psychology  •  [Your College Name]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🎯  The Problem: Career Indecision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Calibri"/>
              </a:defRPr>
            </a:pPr>
            <a:r>
              <a:t>80%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  <a:r>
              <a:t>of students experience significant</a:t>
            </a:r>
            <a:br/>
            <a:r>
              <a:t>career confusion during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80160"/>
            <a:ext cx="6583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3716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Too many career options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Overwhelm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286000"/>
            <a:ext cx="6583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37744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Calibri"/>
              </a:defRPr>
            </a:pPr>
            <a:r>
              <a:t>Lack of personalized guidance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Generic advice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291840"/>
            <a:ext cx="6583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38328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Rapidly changing industry demands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Outdated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297680"/>
            <a:ext cx="65836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438912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No clear learning order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Directionless exploration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🔬  Central Research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  <a:latin typeface="Calibri"/>
              </a:defRPr>
            </a:pPr>
            <a:r>
              <a:t>"How can psychological theories of career decision-making,</a:t>
            </a:r>
            <a:br/>
            <a:r>
              <a:t>self-efficacy, and adaptive learning be operationalized</a:t>
            </a:r>
            <a:br/>
            <a:r>
              <a:t>in an AI-powered learning platform?"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32918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365760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Theoretical</a:t>
            </a:r>
            <a:br/>
            <a:r>
              <a:t>Operationalization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Translating abstract psychology</a:t>
            </a:r>
            <a:br/>
            <a:r>
              <a:t>constructs into computational mechanisms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474720"/>
            <a:ext cx="32918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0" y="3657600"/>
            <a:ext cx="640080" cy="64008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</a:t>
            </a:r>
            <a:br/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Embedding psychological principles</a:t>
            </a:r>
            <a:br/>
            <a:r>
              <a:t>at every layer of the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474720"/>
            <a:ext cx="32918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0" y="365760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Practical</a:t>
            </a:r>
            <a:br/>
            <a: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Demonstrating psychologically grounded</a:t>
            </a:r>
            <a:br/>
            <a:r>
              <a:t>AI produces better career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💡  The Solution: SkillRoute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An AI-powered career decision-making &amp; personalized learning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Not just recommends —</a:t>
            </a:r>
            <a:br/>
            <a:r>
              <a:t>decides the best career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0116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5-step psychological</a:t>
            </a:r>
            <a:br/>
            <a:r>
              <a:t>assessment of learner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0116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Personalized, time-bound</a:t>
            </a:r>
            <a:br/>
            <a:r>
              <a:t>learning roadmaps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0116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Tracks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Monitors progress &amp;</a:t>
            </a:r>
            <a:br/>
            <a:r>
              <a:t>adapts to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0116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2B6"/>
                </a:solidFill>
                <a:latin typeface="Calibri"/>
              </a:defRPr>
            </a:pPr>
            <a:r>
              <a:t>Assesses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Tests actual skills vs.</a:t>
            </a:r>
            <a:br/>
            <a:r>
              <a:t>self-reported abilities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8BDF8"/>
                </a:solidFill>
                <a:latin typeface="Calibri"/>
              </a:defRPr>
            </a:pPr>
            <a:r>
              <a:t>  •  React + Tailwind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DE80"/>
                </a:solidFill>
                <a:latin typeface="Calibri"/>
              </a:defRPr>
            </a:pPr>
            <a:r>
              <a:t>  •  FastAPI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A78BFA"/>
                </a:solidFill>
                <a:latin typeface="Calibri"/>
              </a:defRPr>
            </a:pPr>
            <a:r>
              <a:t>  •  Groq LLM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B923C"/>
                </a:solidFill>
                <a:latin typeface="Calibri"/>
              </a:defRPr>
            </a:pPr>
            <a:r>
              <a:t>  •  Firebase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🧠  Theoretical Framework: 7 Psychology Theories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3152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70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Holland's RIASEC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704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Career personality-environment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234440"/>
            <a:ext cx="1280160" cy="36576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234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47088"/>
            <a:ext cx="73152" cy="65836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20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Bandura's Self-Efficacy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Belief in one's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984248"/>
            <a:ext cx="1280160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984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96896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596896"/>
            <a:ext cx="73152" cy="6583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670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Vygotsky's ZPD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700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Zone of proximal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734056"/>
            <a:ext cx="1280160" cy="36576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7340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46704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346704"/>
            <a:ext cx="73152" cy="65836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198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Calibri"/>
              </a:defRPr>
            </a:pPr>
            <a:r>
              <a:t>Deci &amp; Ryan's SDT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1985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Autonomy, competence, relatedness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3483864"/>
            <a:ext cx="1280160" cy="36576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34838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96511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096511"/>
            <a:ext cx="73152" cy="65836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169663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Calibri"/>
              </a:defRPr>
            </a:pPr>
            <a:r>
              <a:t>Dunning-Kruger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169663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Metacognitive bias correction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4233671"/>
            <a:ext cx="1280160" cy="36576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423367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846320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846320"/>
            <a:ext cx="73152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9194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Calibri"/>
              </a:defRPr>
            </a:pPr>
            <a:r>
              <a:t>Locke &amp; Latham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9194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Goal setting theory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4983480"/>
            <a:ext cx="1280160" cy="36576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4983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STRUCTURE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596128"/>
            <a:ext cx="10698480" cy="65836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596128"/>
            <a:ext cx="73152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69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Csikszentmihalyi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669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Flow theory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5733288"/>
            <a:ext cx="1280160" cy="36576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57332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ADAPTIVE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🎭  Theory: Holland's RIASEC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Individuals succeed when their personality type matches their work environment (Holland, 1997).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5-step onboarding collects: Interests, Skills, Goals, Education, Pace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AI agent analyzes multi-factor profile → career recommendation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Alternative paths provided for informed decision-making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class StudentProfile(BaseModel):</a:t>
            </a:r>
            <a:br/>
            <a:r>
              <a:t>    interests: str    # RIASEC categories</a:t>
            </a:r>
            <a:br/>
            <a:r>
              <a:t>    skills: str       # Skill inventory</a:t>
            </a:r>
            <a:br/>
            <a:r>
              <a:t>    goals: str        # Vocational aspirations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Calibri"/>
              </a:defRPr>
            </a:pPr>
            <a:r>
              <a:t>💪  Theory: Bandura's Self-Efficacy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Self-efficacy is built through mastery experiences and is a primary determinant of motivation (Bandura, 1977, 1997).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Mastery Experience: AI skill quiz tests actual ability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Calibration: Gap between self-report and quiz score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Growth Evidence: Before/after outcomes dashboard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Feedback: Strengths and areas to improve identified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async def evaluate_quiz(questions, user_answers):</a:t>
            </a:r>
            <a:br/>
            <a:r>
              <a:t>    if percentage &gt;= 80: skill_level = "advanced"</a:t>
            </a:r>
            <a:br/>
            <a:r>
              <a:t>    elif percentage &gt;= 50: skill_level = "intermediate"</a:t>
            </a:r>
            <a:br/>
            <a:r>
              <a:t>    else: skill_level = "beginner"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78BFA"/>
                </a:solidFill>
                <a:latin typeface="Calibri"/>
              </a:defRPr>
            </a:pPr>
            <a:r>
              <a:t>📈  Theory: Vygotsky's Zone of Proximal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Learning is most effective when targeting the zone between independent capability and guided achievement (Vygotsky, 1978).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Initial skill assessment establishes lower ZPD boundary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Adaptive roadmap raises/lowers upper boundary based on progress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Scaffolding resources bridge gap between current and target state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Dynamic difficulty adjustment maintains optimal challenge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ADAPT_SYSTEM_PROMPT = """Adapt roadmap based on progress:</a:t>
            </a:r>
            <a:br/>
            <a:r>
              <a:t>- If progressing well: suggest advanced topics</a:t>
            </a:r>
            <a:br/>
            <a:r>
              <a:t>- If stuck: add remedial resources"""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923C"/>
                </a:solidFill>
                <a:latin typeface="Calibri"/>
              </a:defRPr>
            </a:pPr>
            <a:r>
              <a:t>🎯  Theory: Self-Determination Theory (SDT)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Intrinsic motivation thrives when three basic psychological needs are met: Autonomy, Competence, Relatedness (Deci &amp; Ryan, 1985, 2000).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Autonomy: Users control profile, reset path, trigger adaptation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Competence: Skill quiz provides objective mastery feedback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Relatedness: Industry demand data connects to real job market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All three needs addressed → sustained intrinsic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async def analyze_industry_demand(career: str) -&gt; dict:</a:t>
            </a:r>
            <a:br/>
            <a:r>
              <a:t>    # Connects user to real-world job market</a:t>
            </a:r>
            <a:br/>
            <a:r>
              <a:t>    # Provides salary, skill demands, job openings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72B6"/>
                </a:solidFill>
                <a:latin typeface="Calibri"/>
              </a:defRPr>
            </a:pPr>
            <a:r>
              <a:t>🪞  Theory: Dunning-Kruger Effect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Unskilled individuals overestimate their competence; skilled individuals underestimate theirs (Kruger &amp; Dunning, 1999).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User self-reports skills during onboarding (subjective assessment)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AI quiz tests actual understanding with practical questions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Gap between self-report and quiz reveals calibration bias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Roadmap adjusts based on objective skill level, not self-perception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QUIZ_GENERATE_PROMPT = """</a:t>
            </a:r>
            <a:br/>
            <a:r>
              <a:t>Given skills the student claims to know,</a:t>
            </a:r>
            <a:br/>
            <a:r>
              <a:t>generate questions to test ACTUAL skill level.</a:t>
            </a:r>
            <a:br/>
            <a:r>
              <a:t>Questions should test real understanding."""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D3EE"/>
                </a:solidFill>
                <a:latin typeface="Calibri"/>
              </a:defRPr>
            </a:pPr>
            <a:r>
              <a:t>🎯  Theory: Locke &amp; Latham's Goal Setting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Specific, challenging goals with feedback produce higher performance than vague goals (Locke &amp; Latham, 1990, 2002).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Specific Goals: Milestones with clear, defined outcomes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Challenging Yet Attainable: AI calibrates difficulty to skill level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Feedback: Progress tracker with %, streaks, completion status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Time-Bound: Phase durations create temporal landmarks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Strategy Support: Curated resources for each milestone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"phase": "Phase 1: Foundations",</a:t>
            </a:r>
            <a:br/>
            <a:r>
              <a:t>  "duration": "2-3 weeks",</a:t>
            </a:r>
            <a:br/>
            <a:r>
              <a:t>  "milestones": [{"name": "Python Basics",</a:t>
            </a:r>
            <a:br/>
            <a:r>
              <a:t>                  "estimated_hours": 15}]}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🌊  Theory: Csikszentmihalyi's Flow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Theory: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Flow occurs when challenge matches skill level, producing optimal experience and engagement (Csikszentmihalyi, 1990).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SkillRoute: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Challenge-Skill Balance: Adaptive system adjusts difficulty dynamically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Clear Goals: Each milestone has specific, defined outcomes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Immediate Feedback: Progress tracker provides real-time updates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Sense of Control: Users choose when to adapt and what to complete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•  System aims to keep users in flow zone between boredom and anxiety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BD5E1"/>
                </a:solidFill>
                <a:latin typeface="Consolas"/>
              </a:defRPr>
            </a:pPr>
            <a:r>
              <a:t># Flow balance in adaptive system</a:t>
            </a:r>
            <a:br/>
            <a:r>
              <a:t>if progress_is_good:</a:t>
            </a:r>
            <a:br/>
            <a:r>
              <a:t>    increase_challenge()  # Advance to harder topics</a:t>
            </a:r>
            <a:br/>
            <a:r>
              <a:t>if progress_is_stalled:</a:t>
            </a:r>
            <a:br/>
            <a:r>
              <a:t>    reduce_challenge()   # Add scaffolding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🏗️ 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FRONTEND  —  React + Tailwind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Dashboard  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 Skill Quiz  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 Progress Tracker  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 Learning Outcomes  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 Job Listings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BACKEND  —  FastAPI + Python + Groq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▸ Career Decision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Multi-factor profile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30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▸ Roadmap Generation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630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4-phase personalized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142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▸ Adaptive Roadmap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01421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Progress-based difficulty adjustment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982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  <a:latin typeface="Calibri"/>
              </a:defRPr>
            </a:pPr>
            <a:r>
              <a:t>▸ Quiz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398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Skill assessment &amp;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DATABASE  —  Firebase (Auth + Firestore)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8640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User Profiles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Learning Roadmaps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Progress Data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Quiz Results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Career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⚙️  Implementation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315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1. Five-Step Psychological Profiling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Career Clarity Assessment (3 questions → 0-100 score)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Personal Information collection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Skills &amp; Interests enumeration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Goals &amp; Experience capture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Learning Preferences (pace, hours/week)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73152" cy="1645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2. AI Career Decision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Processes complete student profile via Groq LLM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Generates: career recommendation, confidence score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Includes reasoning trace and alternative paths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Ultra-fast inference for responsive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73152" cy="1645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3. Adaptive Roadmap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2120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Monitors: phase completion, activity recency, streaks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Triggers adaptation when inactivity ≥ 3 days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Adjusts difficulty: beginner → intermediate → advanced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  •  Adds scaffolding resources when progress stalls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📊  Results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7899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Psychology theories can be computationally operationalized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7899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Theory-practice bridge achieved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4864" cy="8229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3911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agent produces personalized career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3911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Scalable alternative to human counseling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4864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99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Adaptive system adjusts to individual learning 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ZPD &amp; Flow Theory effectively 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86200"/>
            <a:ext cx="54864" cy="8229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593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Skill quiz reveals self-assessment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5935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Dunning-Kruger correction mechanism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4864" cy="8229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194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Multi-factor profiling enhances decision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94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Holland's model scales through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16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⚠️  Ethical Considerations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0292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  1.  Quiz validity limited to 5 questions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  2.  Self-report bias in interests/goals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  3.  No longitudinal outcome tracking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  4.  Technology-sector focus only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  5.  AI explainability remains partial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Calibri"/>
              </a:defRPr>
            </a:pPr>
            <a:r>
              <a:t>Ethical Concerns &amp;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Algorithmic Bias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Risk: Discrimination  →  Fairness audits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Over-Reliance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Risk: Users defer to AI  →  Encourage reflection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Privacy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Risk: Sensitive data  →  Encryption, minimal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Transparency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Risk: Opaque decisions  →  Decision trace feature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17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🚀 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23444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07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Personality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727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Add MBTI, Big Five, RIASEC instruments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39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285999"/>
            <a:ext cx="594360" cy="59436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5856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Longitudinal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24327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Track career outcomes over months/years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33756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6499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A/B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6758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Compare against human counselors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59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389119"/>
            <a:ext cx="594360" cy="59436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165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616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Calibri"/>
              </a:defRPr>
            </a:pPr>
            <a:r>
              <a:t>Multi-Domain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27447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Extend beyond technology careers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440680"/>
            <a:ext cx="594360" cy="59436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4681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7790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Badges, leaderboards, peer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18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🎓 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18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344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  <a:latin typeface="Calibri"/>
              </a:defRPr>
            </a:pPr>
            <a:r>
              <a:t>"SkillRoute demonstrates that psychological theories, traditionally</a:t>
            </a:r>
            <a:br/>
            <a:r>
              <a:t>applied in face-to-face counseling, can be effectively translated</a:t>
            </a:r>
            <a:br/>
            <a:r>
              <a:t>into computational mechanisms."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834640"/>
            <a:ext cx="9418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90779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  ✓  7 theories → 7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2735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Each psychology theory mapped to a computational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9418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9136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  ✓  AI as psychological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27939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Not just data processor — performs assessment, diagnosis, treatment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9418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9194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  ✓  Scalable career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28523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Extends human counselor reach through AI-powered 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"The ultimate promise is not to replace human counselors but to extend their reach."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19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📚  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Holland, J. 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Career Choice (RIASEC)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05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Bandura,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Self-Efficacy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1977, 1997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Vygotsky, L. 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Zone of Proximal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Deci, E. L. &amp; Ryan, R.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Self-Determination Theory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1985, 2000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  <a:latin typeface="Calibri"/>
              </a:defRPr>
            </a:pPr>
            <a:r>
              <a:t>Kruger, J. &amp; Dunning, 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Dunning-Kruger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Locke, E. A. &amp; Latham, G. 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Goal Setting Theory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7490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1990, 2002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Csikszentmihalyi, 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97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Flow Theory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297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Gati, I.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Career Decision Difficulties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Lent, R. W. et 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Social Cognitive Career Theory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Super, D. 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Life-Span Career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1990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20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0">
                <a:solidFill>
                  <a:srgbClr val="FFFFFF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[Your Name]  •  [Your Email]</a:t>
            </a:r>
            <a:br/>
            <a:r>
              <a:t>SkillRoute AI  •  GitHub: [Your Repository]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